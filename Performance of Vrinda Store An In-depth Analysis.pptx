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5" r:id="rId1"/>
  </p:sldMasterIdLst>
  <p:sldIdLst>
    <p:sldId id="256" r:id="rId2"/>
    <p:sldId id="291" r:id="rId3"/>
    <p:sldId id="293" r:id="rId4"/>
    <p:sldId id="258" r:id="rId5"/>
    <p:sldId id="282" r:id="rId6"/>
    <p:sldId id="260" r:id="rId7"/>
    <p:sldId id="264" r:id="rId8"/>
    <p:sldId id="292" r:id="rId9"/>
    <p:sldId id="284" r:id="rId10"/>
    <p:sldId id="294" r:id="rId11"/>
    <p:sldId id="295" r:id="rId12"/>
    <p:sldId id="296" r:id="rId13"/>
    <p:sldId id="277" r:id="rId14"/>
    <p:sldId id="27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94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78" autoAdjust="0"/>
    <p:restoredTop sz="94660"/>
  </p:normalViewPr>
  <p:slideViewPr>
    <p:cSldViewPr snapToGrid="0">
      <p:cViewPr>
        <p:scale>
          <a:sx n="100" d="100"/>
          <a:sy n="100" d="100"/>
        </p:scale>
        <p:origin x="-20" y="-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EALME\Downloads\Vrinda%20Store%20Data%20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EALME\Downloads\Vrinda%20Store%20Data%20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EALME\Downloads\Vrinda%20Store%20Data%20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EALME\Downloads\Vrinda%20Store%20Data%20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EALME\Downloads\Vrinda%20Store%20Data%20Analysi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EALME\Downloads\Vrinda%20Store%20Data%20Analysi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[Vrinda Store Data Analysis.xlsx]Sales v orders!PivotTable1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Orders VS Sales</a:t>
            </a:r>
          </a:p>
        </c:rich>
      </c:tx>
      <c:layout>
        <c:manualLayout>
          <c:xMode val="edge"/>
          <c:yMode val="edge"/>
          <c:x val="0.13171522309711289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2991426071741033"/>
          <c:y val="0.17171296296296296"/>
          <c:w val="0.76742060367454068"/>
          <c:h val="0.697299504228638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'Sales v orders'!$B$1</c:f>
              <c:strCache>
                <c:ptCount val="1"/>
                <c:pt idx="0">
                  <c:v>Sum of Amount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'Sales v orders'!$A$2:$A$13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'Sales v orders'!$B$2:$B$13</c:f>
              <c:numCache>
                <c:formatCode>General</c:formatCode>
                <c:ptCount val="12"/>
                <c:pt idx="0">
                  <c:v>1820601</c:v>
                </c:pt>
                <c:pt idx="1">
                  <c:v>1875932</c:v>
                </c:pt>
                <c:pt idx="2">
                  <c:v>1928066</c:v>
                </c:pt>
                <c:pt idx="3">
                  <c:v>1829263</c:v>
                </c:pt>
                <c:pt idx="4">
                  <c:v>1797822</c:v>
                </c:pt>
                <c:pt idx="5">
                  <c:v>1750966</c:v>
                </c:pt>
                <c:pt idx="6">
                  <c:v>1772300</c:v>
                </c:pt>
                <c:pt idx="7">
                  <c:v>1808505</c:v>
                </c:pt>
                <c:pt idx="8">
                  <c:v>1688871</c:v>
                </c:pt>
                <c:pt idx="9">
                  <c:v>1666662</c:v>
                </c:pt>
                <c:pt idx="10">
                  <c:v>1615356</c:v>
                </c:pt>
                <c:pt idx="11">
                  <c:v>1622033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6E-4F64-81EA-3CC5C66992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71590527"/>
        <c:axId val="1576542319"/>
      </c:barChart>
      <c:lineChart>
        <c:grouping val="standard"/>
        <c:varyColors val="0"/>
        <c:ser>
          <c:idx val="1"/>
          <c:order val="1"/>
          <c:tx>
            <c:strRef>
              <c:f>'Sales v orders'!$C$1</c:f>
              <c:strCache>
                <c:ptCount val="1"/>
                <c:pt idx="0">
                  <c:v>Count of Order ID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'Sales v orders'!$A$2:$A$13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'Sales v orders'!$C$2:$C$13</c:f>
              <c:numCache>
                <c:formatCode>General</c:formatCode>
                <c:ptCount val="12"/>
                <c:pt idx="0">
                  <c:v>2702</c:v>
                </c:pt>
                <c:pt idx="1">
                  <c:v>2750</c:v>
                </c:pt>
                <c:pt idx="2">
                  <c:v>2819</c:v>
                </c:pt>
                <c:pt idx="3">
                  <c:v>2685</c:v>
                </c:pt>
                <c:pt idx="4">
                  <c:v>2617</c:v>
                </c:pt>
                <c:pt idx="5">
                  <c:v>2597</c:v>
                </c:pt>
                <c:pt idx="6">
                  <c:v>2579</c:v>
                </c:pt>
                <c:pt idx="7">
                  <c:v>2617</c:v>
                </c:pt>
                <c:pt idx="8">
                  <c:v>2490</c:v>
                </c:pt>
                <c:pt idx="9">
                  <c:v>2424</c:v>
                </c:pt>
                <c:pt idx="10">
                  <c:v>2383</c:v>
                </c:pt>
                <c:pt idx="11">
                  <c:v>2384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36E-4F64-81EA-3CC5C66992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71597951"/>
        <c:axId val="1576555279"/>
      </c:lineChart>
      <c:catAx>
        <c:axId val="1671590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6542319"/>
        <c:crosses val="autoZero"/>
        <c:auto val="1"/>
        <c:lblAlgn val="ctr"/>
        <c:lblOffset val="100"/>
        <c:noMultiLvlLbl val="0"/>
      </c:catAx>
      <c:valAx>
        <c:axId val="1576542319"/>
        <c:scaling>
          <c:orientation val="minMax"/>
        </c:scaling>
        <c:delete val="0"/>
        <c:axPos val="l"/>
        <c:numFmt formatCode="0.0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1590527"/>
        <c:crosses val="autoZero"/>
        <c:crossBetween val="between"/>
      </c:valAx>
      <c:valAx>
        <c:axId val="1576555279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1597951"/>
        <c:crosses val="max"/>
        <c:crossBetween val="between"/>
      </c:valAx>
      <c:catAx>
        <c:axId val="167159795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7655527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39480468066491686"/>
          <c:y val="2.393445610965296E-2"/>
          <c:w val="0.48852865266841644"/>
          <c:h val="0.1284733158355205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[Vrinda Store Data Analysis.xlsx]Man v Women!PivotTable2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/>
              <a:t>Sales Men Vs Women</a:t>
            </a:r>
          </a:p>
        </c:rich>
      </c:tx>
      <c:layout>
        <c:manualLayout>
          <c:xMode val="edge"/>
          <c:yMode val="edge"/>
          <c:x val="0.22523272017837237"/>
          <c:y val="0.109342514397159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5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23162098141131285"/>
              <c:y val="-0.1257466844638199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28942264957264957"/>
                  <c:h val="0.24211475409836067"/>
                </c:manualLayout>
              </c15:layout>
            </c:ext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20309748449585402"/>
              <c:y val="0.1140232739724738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105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5574078461431259"/>
                  <c:h val="0.2139530945728558"/>
                </c:manualLayout>
              </c15:layout>
            </c:ext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5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20309748449585402"/>
              <c:y val="0.1140232739724738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105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5574078461431259"/>
                  <c:h val="0.2139530945728558"/>
                </c:manualLayout>
              </c15:layout>
            </c:ext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23162098141131285"/>
              <c:y val="-0.1257466844638199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28942264957264957"/>
                  <c:h val="0.24211475409836067"/>
                </c:manualLayout>
              </c15:layout>
            </c:ext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5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20309748449585402"/>
              <c:y val="0.1140232739724738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105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5574078461431259"/>
                  <c:h val="0.2139530945728558"/>
                </c:manualLayout>
              </c15:layout>
            </c:ext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23162098141131285"/>
              <c:y val="-0.1257466844638199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28942264957264957"/>
                  <c:h val="0.24211475409836067"/>
                </c:manualLayout>
              </c15:layout>
            </c:ext>
          </c:extLst>
        </c:dLbl>
      </c:pivotFmt>
    </c:pivotFmts>
    <c:plotArea>
      <c:layout/>
      <c:pieChart>
        <c:varyColors val="1"/>
        <c:ser>
          <c:idx val="0"/>
          <c:order val="0"/>
          <c:tx>
            <c:strRef>
              <c:f>'Man v Women'!$B$1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DE5-481B-98E1-E43BCBD3529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DE5-481B-98E1-E43BCBD3529F}"/>
              </c:ext>
            </c:extLst>
          </c:dPt>
          <c:dLbls>
            <c:dLbl>
              <c:idx val="0"/>
              <c:layout>
                <c:manualLayout>
                  <c:x val="-0.20309748449585402"/>
                  <c:y val="0.1140232739724738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15574078461431259"/>
                      <c:h val="0.213953094572855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FDE5-481B-98E1-E43BCBD3529F}"/>
                </c:ext>
              </c:extLst>
            </c:dLbl>
            <c:dLbl>
              <c:idx val="1"/>
              <c:layout>
                <c:manualLayout>
                  <c:x val="0.23162098141131285"/>
                  <c:y val="-0.1257466844638199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28942264957264957"/>
                      <c:h val="0.2421147540983606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DE5-481B-98E1-E43BCBD3529F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'Man v Women'!$A$2:$A$3</c:f>
              <c:strCache>
                <c:ptCount val="2"/>
                <c:pt idx="0">
                  <c:v>Men</c:v>
                </c:pt>
                <c:pt idx="1">
                  <c:v>Women</c:v>
                </c:pt>
              </c:strCache>
            </c:strRef>
          </c:cat>
          <c:val>
            <c:numRef>
              <c:f>'Man v Women'!$B$2:$B$3</c:f>
              <c:numCache>
                <c:formatCode>General</c:formatCode>
                <c:ptCount val="2"/>
                <c:pt idx="0">
                  <c:v>7613604</c:v>
                </c:pt>
                <c:pt idx="1">
                  <c:v>13562773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DE5-481B-98E1-E43BCBD352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[Vrinda Store Data Analysis.xlsx]Orders Status!PivotTable3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Orders Status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32921810699588477"/>
              <c:y val="0.1722050457978467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7053821975956709"/>
                  <c:h val="0.15426643098184156"/>
                </c:manualLayout>
              </c15:layout>
            </c:ext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32921810699588477"/>
              <c:y val="0.1722050457978467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7053821975956709"/>
                  <c:h val="0.15426643098184156"/>
                </c:manualLayout>
              </c15:layout>
            </c:ext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32921810699588477"/>
              <c:y val="0.1722050457978467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7053821975956709"/>
                  <c:h val="0.15426643098184156"/>
                </c:manualLayout>
              </c15:layout>
            </c:ext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6676420077119988"/>
          <c:y val="0.13030585462531469"/>
          <c:w val="0.63766501409546028"/>
          <c:h val="0.84327944721195569"/>
        </c:manualLayout>
      </c:layout>
      <c:pieChart>
        <c:varyColors val="1"/>
        <c:ser>
          <c:idx val="0"/>
          <c:order val="0"/>
          <c:tx>
            <c:strRef>
              <c:f>'Orders Status'!$B$3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explosion val="16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9D6-4AFE-A0AA-F84641898AC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9D6-4AFE-A0AA-F84641898AC9}"/>
              </c:ext>
            </c:extLst>
          </c:dPt>
          <c:dPt>
            <c:idx val="2"/>
            <c:bubble3D val="0"/>
            <c:explosion val="16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9D6-4AFE-A0AA-F84641898AC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9D6-4AFE-A0AA-F84641898AC9}"/>
              </c:ext>
            </c:extLst>
          </c:dPt>
          <c:dLbls>
            <c:dLbl>
              <c:idx val="1"/>
              <c:layout>
                <c:manualLayout>
                  <c:x val="0.32921810699588477"/>
                  <c:y val="0.1722050457978467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17053821975956709"/>
                      <c:h val="0.154266430981841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39D6-4AFE-A0AA-F84641898AC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'Orders Status'!$A$4:$A$7</c:f>
              <c:strCache>
                <c:ptCount val="4"/>
                <c:pt idx="0">
                  <c:v>Cancelled</c:v>
                </c:pt>
                <c:pt idx="1">
                  <c:v>Delivered</c:v>
                </c:pt>
                <c:pt idx="2">
                  <c:v>Refunded</c:v>
                </c:pt>
                <c:pt idx="3">
                  <c:v>Returned</c:v>
                </c:pt>
              </c:strCache>
            </c:strRef>
          </c:cat>
          <c:val>
            <c:numRef>
              <c:f>'Orders Status'!$B$4:$B$7</c:f>
              <c:numCache>
                <c:formatCode>General</c:formatCode>
                <c:ptCount val="4"/>
                <c:pt idx="0">
                  <c:v>844</c:v>
                </c:pt>
                <c:pt idx="1">
                  <c:v>28641</c:v>
                </c:pt>
                <c:pt idx="2">
                  <c:v>517</c:v>
                </c:pt>
                <c:pt idx="3">
                  <c:v>1045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9D6-4AFE-A0AA-F84641898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95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[Vrinda Store Data Analysis.xlsx]Top 5 sales!PivotTable4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Sales: Top 5 States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'Top 5 sales'!$B$3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0,,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'Top 5 sales'!$A$4:$A$8</c:f>
              <c:strCache>
                <c:ptCount val="5"/>
                <c:pt idx="0">
                  <c:v>MAHARASHTRA</c:v>
                </c:pt>
                <c:pt idx="1">
                  <c:v>KARNATAKA</c:v>
                </c:pt>
                <c:pt idx="2">
                  <c:v>UTTAR PRADESH</c:v>
                </c:pt>
                <c:pt idx="3">
                  <c:v>TELANGANA</c:v>
                </c:pt>
                <c:pt idx="4">
                  <c:v>TAMIL NADU</c:v>
                </c:pt>
              </c:strCache>
            </c:strRef>
          </c:cat>
          <c:val>
            <c:numRef>
              <c:f>'Top 5 sales'!$B$4:$B$8</c:f>
              <c:numCache>
                <c:formatCode>General</c:formatCode>
                <c:ptCount val="5"/>
                <c:pt idx="0">
                  <c:v>2990221</c:v>
                </c:pt>
                <c:pt idx="1">
                  <c:v>2646358</c:v>
                </c:pt>
                <c:pt idx="2">
                  <c:v>2104659</c:v>
                </c:pt>
                <c:pt idx="3">
                  <c:v>1712439</c:v>
                </c:pt>
                <c:pt idx="4">
                  <c:v>1678877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F5-4731-902C-BF5C42D48F5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886569023"/>
        <c:axId val="1841888639"/>
      </c:barChart>
      <c:catAx>
        <c:axId val="18865690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1888639"/>
        <c:crosses val="autoZero"/>
        <c:auto val="1"/>
        <c:lblAlgn val="ctr"/>
        <c:lblOffset val="100"/>
        <c:noMultiLvlLbl val="0"/>
      </c:catAx>
      <c:valAx>
        <c:axId val="1841888639"/>
        <c:scaling>
          <c:orientation val="minMax"/>
        </c:scaling>
        <c:delete val="0"/>
        <c:axPos val="b"/>
        <c:numFmt formatCode="0.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65690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[Vrinda Store Data Analysis.xlsx]Age n gender!PivotTable5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Orders:</a:t>
            </a:r>
            <a:r>
              <a:rPr lang="en-IN" baseline="0"/>
              <a:t> Age Vs Gender</a:t>
            </a:r>
            <a:endParaRPr lang="en-IN"/>
          </a:p>
        </c:rich>
      </c:tx>
      <c:layout>
        <c:manualLayout>
          <c:xMode val="edge"/>
          <c:yMode val="edge"/>
          <c:x val="0.20115966754155734"/>
          <c:y val="1.85185185185185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'Age n gender'!$B$3:$B$4</c:f>
              <c:strCache>
                <c:ptCount val="1"/>
                <c:pt idx="0">
                  <c:v>Men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'Age n gender'!$A$5:$A$7</c:f>
              <c:strCache>
                <c:ptCount val="3"/>
                <c:pt idx="0">
                  <c:v>Adult</c:v>
                </c:pt>
                <c:pt idx="1">
                  <c:v>Senior</c:v>
                </c:pt>
                <c:pt idx="2">
                  <c:v>Teenager</c:v>
                </c:pt>
              </c:strCache>
            </c:strRef>
          </c:cat>
          <c:val>
            <c:numRef>
              <c:f>'Age n gender'!$B$5:$B$7</c:f>
              <c:numCache>
                <c:formatCode>0.00%</c:formatCode>
                <c:ptCount val="3"/>
                <c:pt idx="0">
                  <c:v>0.15470093728862691</c:v>
                </c:pt>
                <c:pt idx="1">
                  <c:v>5.9136148420137209E-2</c:v>
                </c:pt>
                <c:pt idx="2">
                  <c:v>9.1957354977936681E-2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78-4A2F-BC1F-29BCC4885E07}"/>
            </c:ext>
          </c:extLst>
        </c:ser>
        <c:ser>
          <c:idx val="1"/>
          <c:order val="1"/>
          <c:tx>
            <c:strRef>
              <c:f>'Age n gender'!$C$3:$C$4</c:f>
              <c:strCache>
                <c:ptCount val="1"/>
                <c:pt idx="0">
                  <c:v>Women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'Age n gender'!$A$5:$A$7</c:f>
              <c:strCache>
                <c:ptCount val="3"/>
                <c:pt idx="0">
                  <c:v>Adult</c:v>
                </c:pt>
                <c:pt idx="1">
                  <c:v>Senior</c:v>
                </c:pt>
                <c:pt idx="2">
                  <c:v>Teenager</c:v>
                </c:pt>
              </c:strCache>
            </c:strRef>
          </c:cat>
          <c:val>
            <c:numRef>
              <c:f>'Age n gender'!$C$5:$C$7</c:f>
              <c:numCache>
                <c:formatCode>0.00%</c:formatCode>
                <c:ptCount val="3"/>
                <c:pt idx="0">
                  <c:v>0.3459271427191033</c:v>
                </c:pt>
                <c:pt idx="1">
                  <c:v>0.13698586014751829</c:v>
                </c:pt>
                <c:pt idx="2">
                  <c:v>0.2112925564466776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78-4A2F-BC1F-29BCC4885E0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86650687"/>
        <c:axId val="1692954287"/>
      </c:barChart>
      <c:catAx>
        <c:axId val="18866506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2954287"/>
        <c:crosses val="autoZero"/>
        <c:auto val="1"/>
        <c:lblAlgn val="ctr"/>
        <c:lblOffset val="100"/>
        <c:noMultiLvlLbl val="0"/>
      </c:catAx>
      <c:valAx>
        <c:axId val="1692954287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66506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9989829396325456"/>
          <c:y val="2.393445610965296E-2"/>
          <c:w val="0.29732392825896764"/>
          <c:h val="7.7547389909594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[Vrinda Store Data Analysis.xlsx]Channels!PivotTable6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Orders: Channels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6.7027777777777811E-2"/>
              <c:y val="5.26094675638813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6.7027777777777811E-2"/>
              <c:y val="5.26094675638813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6.7027777777777811E-2"/>
              <c:y val="5.26094675638813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758821084864392"/>
          <c:y val="6.986111111111111E-2"/>
          <c:w val="0.6420555555555556"/>
          <c:h val="0.91413267144337962"/>
        </c:manualLayout>
      </c:layout>
      <c:pieChart>
        <c:varyColors val="1"/>
        <c:ser>
          <c:idx val="0"/>
          <c:order val="0"/>
          <c:tx>
            <c:strRef>
              <c:f>Channels!$B$3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1F8-4C32-A8D3-95CA3482843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1F8-4C32-A8D3-95CA3482843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1F8-4C32-A8D3-95CA3482843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1F8-4C32-A8D3-95CA34828434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1F8-4C32-A8D3-95CA34828434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A1F8-4C32-A8D3-95CA34828434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A1F8-4C32-A8D3-95CA34828434}"/>
              </c:ext>
            </c:extLst>
          </c:dPt>
          <c:dLbls>
            <c:dLbl>
              <c:idx val="0"/>
              <c:layout>
                <c:manualLayout>
                  <c:x val="-9.4654646751582569E-2"/>
                  <c:y val="4.5278526738443001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1F8-4C32-A8D3-95CA34828434}"/>
                </c:ext>
              </c:extLst>
            </c:dLbl>
            <c:dLbl>
              <c:idx val="1"/>
              <c:layout>
                <c:manualLayout>
                  <c:x val="-0.13545406345485092"/>
                  <c:y val="-0.14298482127929374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1F8-4C32-A8D3-95CA34828434}"/>
                </c:ext>
              </c:extLst>
            </c:dLbl>
            <c:dLbl>
              <c:idx val="2"/>
              <c:layout>
                <c:manualLayout>
                  <c:x val="0.10281453009223623"/>
                  <c:y val="-5.7193928511717534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1F8-4C32-A8D3-95CA34828434}"/>
                </c:ext>
              </c:extLst>
            </c:dLbl>
            <c:dLbl>
              <c:idx val="3"/>
              <c:layout>
                <c:manualLayout>
                  <c:x val="9.4654646751582541E-2"/>
                  <c:y val="4.5278526738443042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1F8-4C32-A8D3-95CA34828434}"/>
                </c:ext>
              </c:extLst>
            </c:dLbl>
            <c:dLbl>
              <c:idx val="4"/>
              <c:layout>
                <c:manualLayout>
                  <c:x val="1.5152967614643193E-3"/>
                  <c:y val="0.1789126661096138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1F8-4C32-A8D3-95CA34828434}"/>
                </c:ext>
              </c:extLst>
            </c:dLbl>
            <c:dLbl>
              <c:idx val="5"/>
              <c:layout>
                <c:manualLayout>
                  <c:x val="-6.2015113388967889E-2"/>
                  <c:y val="0.11677093737808995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1F8-4C32-A8D3-95CA34828434}"/>
                </c:ext>
              </c:extLst>
            </c:dLbl>
            <c:dLbl>
              <c:idx val="6"/>
              <c:layout>
                <c:manualLayout>
                  <c:x val="-6.527906672522947E-2"/>
                  <c:y val="7.6258571348956708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A1F8-4C32-A8D3-95CA3482843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Channels!$A$4:$A$10</c:f>
              <c:strCache>
                <c:ptCount val="7"/>
                <c:pt idx="0">
                  <c:v>Ajio</c:v>
                </c:pt>
                <c:pt idx="1">
                  <c:v>Amazon</c:v>
                </c:pt>
                <c:pt idx="2">
                  <c:v>Flipkart</c:v>
                </c:pt>
                <c:pt idx="3">
                  <c:v>Meesho</c:v>
                </c:pt>
                <c:pt idx="4">
                  <c:v>Myntra</c:v>
                </c:pt>
                <c:pt idx="5">
                  <c:v>Nalli</c:v>
                </c:pt>
                <c:pt idx="6">
                  <c:v>Others</c:v>
                </c:pt>
              </c:strCache>
            </c:strRef>
          </c:cat>
          <c:val>
            <c:numRef>
              <c:f>Channels!$B$4:$B$10</c:f>
              <c:numCache>
                <c:formatCode>0.0%</c:formatCode>
                <c:ptCount val="7"/>
                <c:pt idx="0">
                  <c:v>6.2196025380874161E-2</c:v>
                </c:pt>
                <c:pt idx="1">
                  <c:v>0.35481689052082327</c:v>
                </c:pt>
                <c:pt idx="2">
                  <c:v>0.21589847650336585</c:v>
                </c:pt>
                <c:pt idx="3">
                  <c:v>4.5028505169581602E-2</c:v>
                </c:pt>
                <c:pt idx="4">
                  <c:v>0.23364576287564015</c:v>
                </c:pt>
                <c:pt idx="5">
                  <c:v>4.7798499049827678E-2</c:v>
                </c:pt>
                <c:pt idx="6">
                  <c:v>4.0615840499887271E-2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A1F8-4C32-A8D3-95CA348284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54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A060-F72D-47AD-ABB7-CFCC5800813B}" type="datetimeFigureOut">
              <a:rPr lang="en-IN" smtClean="0"/>
              <a:t>29-03-2023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95CE-9959-4D88-98B6-54771327F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311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A060-F72D-47AD-ABB7-CFCC5800813B}" type="datetimeFigureOut">
              <a:rPr lang="en-IN" smtClean="0"/>
              <a:t>29-03-2023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95CE-9959-4D88-98B6-54771327F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722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A060-F72D-47AD-ABB7-CFCC5800813B}" type="datetimeFigureOut">
              <a:rPr lang="en-IN" smtClean="0"/>
              <a:t>29-03-2023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95CE-9959-4D88-98B6-54771327F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474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A060-F72D-47AD-ABB7-CFCC5800813B}" type="datetimeFigureOut">
              <a:rPr lang="en-IN" smtClean="0"/>
              <a:t>29-03-2023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95CE-9959-4D88-98B6-54771327F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008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A060-F72D-47AD-ABB7-CFCC5800813B}" type="datetimeFigureOut">
              <a:rPr lang="en-IN" smtClean="0"/>
              <a:t>29-03-2023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95CE-9959-4D88-98B6-54771327F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286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A060-F72D-47AD-ABB7-CFCC5800813B}" type="datetimeFigureOut">
              <a:rPr lang="en-IN" smtClean="0"/>
              <a:t>29-03-2023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95CE-9959-4D88-98B6-54771327F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A060-F72D-47AD-ABB7-CFCC5800813B}" type="datetimeFigureOut">
              <a:rPr lang="en-IN" smtClean="0"/>
              <a:t>29-03-2023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95CE-9959-4D88-98B6-54771327F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74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A060-F72D-47AD-ABB7-CFCC5800813B}" type="datetimeFigureOut">
              <a:rPr lang="en-IN" smtClean="0"/>
              <a:t>29-03-2023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95CE-9959-4D88-98B6-54771327F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829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A060-F72D-47AD-ABB7-CFCC5800813B}" type="datetimeFigureOut">
              <a:rPr lang="en-IN" smtClean="0"/>
              <a:t>29-03-2023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95CE-9959-4D88-98B6-54771327F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219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A060-F72D-47AD-ABB7-CFCC5800813B}" type="datetimeFigureOut">
              <a:rPr lang="en-IN" smtClean="0"/>
              <a:t>29-03-2023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95CE-9959-4D88-98B6-54771327F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159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A060-F72D-47AD-ABB7-CFCC5800813B}" type="datetimeFigureOut">
              <a:rPr lang="en-IN" smtClean="0"/>
              <a:t>29-03-2023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95CE-9959-4D88-98B6-54771327F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495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A060-F72D-47AD-ABB7-CFCC5800813B}" type="datetimeFigureOut">
              <a:rPr lang="en-IN" smtClean="0"/>
              <a:t>29-03-2023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95CE-9959-4D88-98B6-54771327FEC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95387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A060-F72D-47AD-ABB7-CFCC5800813B}" type="datetimeFigureOut">
              <a:rPr lang="en-IN" smtClean="0"/>
              <a:t>29-03-2023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95CE-9959-4D88-98B6-54771327F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5134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A060-F72D-47AD-ABB7-CFCC5800813B}" type="datetimeFigureOut">
              <a:rPr lang="en-IN" smtClean="0"/>
              <a:t>29-03-2023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95CE-9959-4D88-98B6-54771327F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358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A060-F72D-47AD-ABB7-CFCC5800813B}" type="datetimeFigureOut">
              <a:rPr lang="en-IN" smtClean="0"/>
              <a:t>29-03-2023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95CE-9959-4D88-98B6-54771327F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364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A060-F72D-47AD-ABB7-CFCC5800813B}" type="datetimeFigureOut">
              <a:rPr lang="en-IN" smtClean="0"/>
              <a:t>29-03-2023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95CE-9959-4D88-98B6-54771327F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0319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A060-F72D-47AD-ABB7-CFCC5800813B}" type="datetimeFigureOut">
              <a:rPr lang="en-IN" smtClean="0"/>
              <a:t>29-03-2023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95CE-9959-4D88-98B6-54771327F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30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D1AA060-F72D-47AD-ABB7-CFCC5800813B}" type="datetimeFigureOut">
              <a:rPr lang="en-IN" smtClean="0"/>
              <a:t>29-03-2023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D95CE-9959-4D88-98B6-54771327F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9134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  <p:sldLayoutId id="2147483921" r:id="rId6"/>
    <p:sldLayoutId id="2147483922" r:id="rId7"/>
    <p:sldLayoutId id="2147483923" r:id="rId8"/>
    <p:sldLayoutId id="2147483924" r:id="rId9"/>
    <p:sldLayoutId id="2147483925" r:id="rId10"/>
    <p:sldLayoutId id="2147483926" r:id="rId11"/>
    <p:sldLayoutId id="2147483927" r:id="rId12"/>
    <p:sldLayoutId id="2147483928" r:id="rId13"/>
    <p:sldLayoutId id="2147483929" r:id="rId14"/>
    <p:sldLayoutId id="2147483930" r:id="rId15"/>
    <p:sldLayoutId id="2147483931" r:id="rId16"/>
    <p:sldLayoutId id="214748393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C1A7D-0262-FC96-3567-B4E111D7F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129" y="430886"/>
            <a:ext cx="9173623" cy="983826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Exploring the Business Operations and Performance of Vrinda Store: An In-depth Analysis</a:t>
            </a:r>
          </a:p>
        </p:txBody>
      </p:sp>
      <p:pic>
        <p:nvPicPr>
          <p:cNvPr id="8200" name="Picture 8" descr="Know about Data Analysis">
            <a:extLst>
              <a:ext uri="{FF2B5EF4-FFF2-40B4-BE49-F238E27FC236}">
                <a16:creationId xmlns:a16="http://schemas.microsoft.com/office/drawing/2014/main" id="{F6946779-0C49-0F56-7623-82690D3051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76"/>
          <a:stretch/>
        </p:blipFill>
        <p:spPr bwMode="auto">
          <a:xfrm>
            <a:off x="3428390" y="2035973"/>
            <a:ext cx="5234608" cy="4121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5596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BAD12-CCDB-B6D7-C0E7-1A6A6A6B3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3799993" cy="739978"/>
          </a:xfrm>
        </p:spPr>
        <p:txBody>
          <a:bodyPr/>
          <a:lstStyle/>
          <a:p>
            <a:r>
              <a:rPr lang="en-IN" sz="4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A5B0B-789A-E29A-3686-2984590BC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835" y="1331259"/>
            <a:ext cx="7143750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Vrinda store wants to create an annual sales report for 2022.So that, Vrinda can understand their customers and grow more sales in 2023.</a:t>
            </a:r>
          </a:p>
        </p:txBody>
      </p:sp>
      <p:pic>
        <p:nvPicPr>
          <p:cNvPr id="4" name="Picture 2" descr="Objectives - About">
            <a:extLst>
              <a:ext uri="{FF2B5EF4-FFF2-40B4-BE49-F238E27FC236}">
                <a16:creationId xmlns:a16="http://schemas.microsoft.com/office/drawing/2014/main" id="{388DE2CF-FB78-AE6C-05D6-7B5BEEF88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4722" y="2901803"/>
            <a:ext cx="4888258" cy="3538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4427653"/>
      </p:ext>
    </p:extLst>
  </p:cSld>
  <p:clrMapOvr>
    <a:masterClrMapping/>
  </p:clrMapOvr>
  <p:transition spd="slow">
    <p:wheel spokes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BAD12-CCDB-B6D7-C0E7-1A6A6A6B3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55" y="500512"/>
            <a:ext cx="6602828" cy="739978"/>
          </a:xfrm>
        </p:spPr>
        <p:txBody>
          <a:bodyPr/>
          <a:lstStyle/>
          <a:p>
            <a:r>
              <a:rPr lang="en-IN" sz="36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A5B0B-789A-E29A-3686-2984590BC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835" y="1331259"/>
            <a:ext cx="7143750" cy="4512950"/>
          </a:xfrm>
        </p:spPr>
        <p:txBody>
          <a:bodyPr>
            <a:normAutofit fontScale="85000" lnSpcReduction="10000"/>
          </a:bodyPr>
          <a:lstStyle/>
          <a:p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the sales and orders using single chart.</a:t>
            </a:r>
          </a:p>
          <a:p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month got the </a:t>
            </a:r>
            <a:r>
              <a:rPr lang="en-US" sz="28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hishest</a:t>
            </a:r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sales and orders?</a:t>
            </a:r>
          </a:p>
          <a:p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purchased are different more-men or women in 2022?</a:t>
            </a:r>
          </a:p>
          <a:p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different order status in 2022?</a:t>
            </a:r>
          </a:p>
          <a:p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 of top 5 states contributing to the sales.</a:t>
            </a:r>
          </a:p>
          <a:p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between age and gender based on number of orders.</a:t>
            </a:r>
          </a:p>
          <a:p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channel is contributing to maximum sales</a:t>
            </a:r>
          </a:p>
          <a:p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selling category ?</a:t>
            </a:r>
          </a:p>
        </p:txBody>
      </p:sp>
      <p:pic>
        <p:nvPicPr>
          <p:cNvPr id="7170" name="Picture 2" descr="List of College Majors - College and Career Planning | ACT">
            <a:extLst>
              <a:ext uri="{FF2B5EF4-FFF2-40B4-BE49-F238E27FC236}">
                <a16:creationId xmlns:a16="http://schemas.microsoft.com/office/drawing/2014/main" id="{E3115B05-BE9C-8516-9761-160259376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879" y="1285874"/>
            <a:ext cx="6666256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7135554"/>
      </p:ext>
    </p:extLst>
  </p:cSld>
  <p:clrMapOvr>
    <a:masterClrMapping/>
  </p:clrMapOvr>
  <p:transition spd="slow">
    <p:wheel spokes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65944-1727-DCA6-A7E7-DFE5A5F65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88433"/>
            <a:ext cx="8287509" cy="81934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Comparation of sales and orders</a:t>
            </a:r>
            <a:endParaRPr lang="en-IN" sz="40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14F0546-4337-6FE9-9AFB-0ECBED2530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0370098"/>
              </p:ext>
            </p:extLst>
          </p:nvPr>
        </p:nvGraphicFramePr>
        <p:xfrm>
          <a:off x="566840" y="1662694"/>
          <a:ext cx="6281292" cy="3659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55D52A-8E77-DDD7-FEC8-418011FA3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36996"/>
              </p:ext>
            </p:extLst>
          </p:nvPr>
        </p:nvGraphicFramePr>
        <p:xfrm>
          <a:off x="8458018" y="1910836"/>
          <a:ext cx="2946400" cy="25514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3600">
                  <a:extLst>
                    <a:ext uri="{9D8B030D-6E8A-4147-A177-3AD203B41FA5}">
                      <a16:colId xmlns:a16="http://schemas.microsoft.com/office/drawing/2014/main" val="2149097568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319302846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63667216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 dirty="0">
                          <a:effectLst/>
                        </a:rPr>
                        <a:t>Row Labels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 dirty="0">
                          <a:effectLst/>
                        </a:rPr>
                        <a:t>Sum of Amount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Count of Order ID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987595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Jan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1820601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2702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35164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Feb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1875932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2750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3176186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Mar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1928066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2819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570794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Apr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1829263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2685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7987191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May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1797822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2617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065484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Jun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1750966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2597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7302003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Jul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1772300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2579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04032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Aug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1808505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2617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125878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Sep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1688871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2490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4476301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Oct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1666662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2424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107316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Nov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1615356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2383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8258049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Dec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1622033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2384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41306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57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2A40FBC-EA8E-8E68-97DB-A1DB9E67F45E}"/>
              </a:ext>
            </a:extLst>
          </p:cNvPr>
          <p:cNvSpPr txBox="1">
            <a:spLocks/>
          </p:cNvSpPr>
          <p:nvPr/>
        </p:nvSpPr>
        <p:spPr>
          <a:xfrm>
            <a:off x="460489" y="397618"/>
            <a:ext cx="9209785" cy="8789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cap="none" dirty="0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Comparation of sales between men and women</a:t>
            </a:r>
            <a:endParaRPr lang="en-IN" b="1" cap="none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86C24CA-D70F-0536-2B68-ED695D1D7F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6334203"/>
              </p:ext>
            </p:extLst>
          </p:nvPr>
        </p:nvGraphicFramePr>
        <p:xfrm>
          <a:off x="793750" y="1513748"/>
          <a:ext cx="6315779" cy="46227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150CBC4-CDA7-649E-DDFC-D8CF3D1DD1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249237"/>
              </p:ext>
            </p:extLst>
          </p:nvPr>
        </p:nvGraphicFramePr>
        <p:xfrm>
          <a:off x="8929562" y="2778958"/>
          <a:ext cx="1984031" cy="12930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0442">
                  <a:extLst>
                    <a:ext uri="{9D8B030D-6E8A-4147-A177-3AD203B41FA5}">
                      <a16:colId xmlns:a16="http://schemas.microsoft.com/office/drawing/2014/main" val="1605730040"/>
                    </a:ext>
                  </a:extLst>
                </a:gridCol>
                <a:gridCol w="1053589">
                  <a:extLst>
                    <a:ext uri="{9D8B030D-6E8A-4147-A177-3AD203B41FA5}">
                      <a16:colId xmlns:a16="http://schemas.microsoft.com/office/drawing/2014/main" val="2434665194"/>
                    </a:ext>
                  </a:extLst>
                </a:gridCol>
              </a:tblGrid>
              <a:tr h="622252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Row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Sum of Amount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63109873"/>
                  </a:ext>
                </a:extLst>
              </a:tr>
              <a:tr h="33541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Men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7613604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86209909"/>
                  </a:ext>
                </a:extLst>
              </a:tr>
              <a:tr h="335415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Women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13562773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51142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4942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7F14D3EB-2F63-5AA7-7B9A-6CAF6A5BD205}"/>
              </a:ext>
            </a:extLst>
          </p:cNvPr>
          <p:cNvSpPr txBox="1"/>
          <p:nvPr/>
        </p:nvSpPr>
        <p:spPr>
          <a:xfrm>
            <a:off x="2561059" y="284515"/>
            <a:ext cx="5934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 Status Analysis </a:t>
            </a:r>
            <a:endParaRPr lang="en-IN" sz="36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3AA2F82-66D1-F952-19E6-A2ADC88E5A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3292403"/>
              </p:ext>
            </p:extLst>
          </p:nvPr>
        </p:nvGraphicFramePr>
        <p:xfrm>
          <a:off x="357289" y="1199689"/>
          <a:ext cx="6486319" cy="47274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FB240C-AF9A-AF7D-91D8-BEAAE8DF46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628185"/>
              </p:ext>
            </p:extLst>
          </p:nvPr>
        </p:nvGraphicFramePr>
        <p:xfrm>
          <a:off x="8157557" y="2485190"/>
          <a:ext cx="2604734" cy="16460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2722">
                  <a:extLst>
                    <a:ext uri="{9D8B030D-6E8A-4147-A177-3AD203B41FA5}">
                      <a16:colId xmlns:a16="http://schemas.microsoft.com/office/drawing/2014/main" val="1197472064"/>
                    </a:ext>
                  </a:extLst>
                </a:gridCol>
                <a:gridCol w="1462012">
                  <a:extLst>
                    <a:ext uri="{9D8B030D-6E8A-4147-A177-3AD203B41FA5}">
                      <a16:colId xmlns:a16="http://schemas.microsoft.com/office/drawing/2014/main" val="2876649450"/>
                    </a:ext>
                  </a:extLst>
                </a:gridCol>
              </a:tblGrid>
              <a:tr h="521542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Row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Count of Order ID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22771088"/>
                  </a:ext>
                </a:extLst>
              </a:tr>
              <a:tr h="281128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Cancelled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844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11545179"/>
                  </a:ext>
                </a:extLst>
              </a:tr>
              <a:tr h="281128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Delivered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28641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61659939"/>
                  </a:ext>
                </a:extLst>
              </a:tr>
              <a:tr h="281128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Refunded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517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36847538"/>
                  </a:ext>
                </a:extLst>
              </a:tr>
              <a:tr h="281128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Returned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1045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4212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7439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277AF-AFC2-D042-B6CB-5C3489F78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92" y="1666066"/>
            <a:ext cx="10584716" cy="30645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IN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IN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600" i="0" dirty="0">
              <a:solidFill>
                <a:schemeClr val="tx2"/>
              </a:solidFill>
              <a:effectLst/>
              <a:latin typeface="+mj-lt"/>
            </a:endParaRPr>
          </a:p>
          <a:p>
            <a:endParaRPr lang="en-IN" b="1" dirty="0">
              <a:solidFill>
                <a:schemeClr val="tx2"/>
              </a:solidFill>
            </a:endParaRPr>
          </a:p>
          <a:p>
            <a:endParaRPr lang="en-US" b="1" dirty="0"/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30016B-B476-59D5-A5D5-1204BA47AED3}"/>
              </a:ext>
            </a:extLst>
          </p:cNvPr>
          <p:cNvSpPr txBox="1"/>
          <p:nvPr/>
        </p:nvSpPr>
        <p:spPr>
          <a:xfrm>
            <a:off x="2845075" y="254646"/>
            <a:ext cx="3674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5 States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5C73DE8-D25A-9DF8-2CC9-AFBDC5A0CF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2445445"/>
              </p:ext>
            </p:extLst>
          </p:nvPr>
        </p:nvGraphicFramePr>
        <p:xfrm>
          <a:off x="270810" y="1327195"/>
          <a:ext cx="7083859" cy="467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3AA5854-3E4D-96F2-F9E8-CA62FECF3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271300"/>
              </p:ext>
            </p:extLst>
          </p:nvPr>
        </p:nvGraphicFramePr>
        <p:xfrm>
          <a:off x="8750300" y="2023228"/>
          <a:ext cx="2702724" cy="235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5574">
                  <a:extLst>
                    <a:ext uri="{9D8B030D-6E8A-4147-A177-3AD203B41FA5}">
                      <a16:colId xmlns:a16="http://schemas.microsoft.com/office/drawing/2014/main" val="1433975223"/>
                    </a:ext>
                  </a:extLst>
                </a:gridCol>
                <a:gridCol w="1317150">
                  <a:extLst>
                    <a:ext uri="{9D8B030D-6E8A-4147-A177-3AD203B41FA5}">
                      <a16:colId xmlns:a16="http://schemas.microsoft.com/office/drawing/2014/main" val="1430500911"/>
                    </a:ext>
                  </a:extLst>
                </a:gridCol>
              </a:tblGrid>
              <a:tr h="51071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Row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Sum of Amount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47761714"/>
                  </a:ext>
                </a:extLst>
              </a:tr>
              <a:tr h="51071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MAHARASHTRA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2990221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60176600"/>
                  </a:ext>
                </a:extLst>
              </a:tr>
              <a:tr h="27529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KARNATAKA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2646358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87890393"/>
                  </a:ext>
                </a:extLst>
              </a:tr>
              <a:tr h="51071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UTTAR PRADESH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2104659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16555395"/>
                  </a:ext>
                </a:extLst>
              </a:tr>
              <a:tr h="27529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TELANGANA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1712439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43412552"/>
                  </a:ext>
                </a:extLst>
              </a:tr>
              <a:tr h="27529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TAMIL NADU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1678877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94101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0255560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8FB73AA-1529-DC42-2FD2-548656D4E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530" y="145773"/>
            <a:ext cx="9589488" cy="568853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orders based on Age &amp; Gender</a:t>
            </a:r>
            <a:endParaRPr lang="en-IN" sz="36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ADDA76C-082F-2917-FE63-FFC91A6479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1368512"/>
              </p:ext>
            </p:extLst>
          </p:nvPr>
        </p:nvGraphicFramePr>
        <p:xfrm>
          <a:off x="297125" y="1307459"/>
          <a:ext cx="6972026" cy="48302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22184C-7E6D-BC0D-C092-E496C524ED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31065"/>
              </p:ext>
            </p:extLst>
          </p:nvPr>
        </p:nvGraphicFramePr>
        <p:xfrm>
          <a:off x="7992958" y="1660240"/>
          <a:ext cx="3256135" cy="22868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6244">
                  <a:extLst>
                    <a:ext uri="{9D8B030D-6E8A-4147-A177-3AD203B41FA5}">
                      <a16:colId xmlns:a16="http://schemas.microsoft.com/office/drawing/2014/main" val="2534793283"/>
                    </a:ext>
                  </a:extLst>
                </a:gridCol>
                <a:gridCol w="1290167">
                  <a:extLst>
                    <a:ext uri="{9D8B030D-6E8A-4147-A177-3AD203B41FA5}">
                      <a16:colId xmlns:a16="http://schemas.microsoft.com/office/drawing/2014/main" val="2432512719"/>
                    </a:ext>
                  </a:extLst>
                </a:gridCol>
                <a:gridCol w="629724">
                  <a:extLst>
                    <a:ext uri="{9D8B030D-6E8A-4147-A177-3AD203B41FA5}">
                      <a16:colId xmlns:a16="http://schemas.microsoft.com/office/drawing/2014/main" val="3399654296"/>
                    </a:ext>
                  </a:extLst>
                </a:gridCol>
              </a:tblGrid>
              <a:tr h="632222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Count of Order ID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Column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27588727"/>
                  </a:ext>
                </a:extLst>
              </a:tr>
              <a:tr h="632222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Row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Men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Women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80626562"/>
                  </a:ext>
                </a:extLst>
              </a:tr>
              <a:tr h="340789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Adult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15.47%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34.59%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3081956"/>
                  </a:ext>
                </a:extLst>
              </a:tr>
              <a:tr h="340789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Senior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5.91%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13.70%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83948717"/>
                  </a:ext>
                </a:extLst>
              </a:tr>
              <a:tr h="340789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Teenager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9.20%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21.13%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05099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8457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F1A4F57-B5A1-26F5-DA37-18821E77A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767" y="279400"/>
            <a:ext cx="8448675" cy="792163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Channel Distribution As per sales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BE2BEA5-2861-8B1C-365C-28292CB285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5314913"/>
              </p:ext>
            </p:extLst>
          </p:nvPr>
        </p:nvGraphicFramePr>
        <p:xfrm>
          <a:off x="900137" y="1071563"/>
          <a:ext cx="7781974" cy="5329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1CC6849-5AF0-FC68-BEE3-6F0302466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087402"/>
              </p:ext>
            </p:extLst>
          </p:nvPr>
        </p:nvGraphicFramePr>
        <p:xfrm>
          <a:off x="8052302" y="1798320"/>
          <a:ext cx="3104694" cy="2484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2059">
                  <a:extLst>
                    <a:ext uri="{9D8B030D-6E8A-4147-A177-3AD203B41FA5}">
                      <a16:colId xmlns:a16="http://schemas.microsoft.com/office/drawing/2014/main" val="1380654985"/>
                    </a:ext>
                  </a:extLst>
                </a:gridCol>
                <a:gridCol w="1742635">
                  <a:extLst>
                    <a:ext uri="{9D8B030D-6E8A-4147-A177-3AD203B41FA5}">
                      <a16:colId xmlns:a16="http://schemas.microsoft.com/office/drawing/2014/main" val="1931929683"/>
                    </a:ext>
                  </a:extLst>
                </a:gridCol>
              </a:tblGrid>
              <a:tr h="52045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Row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Count of Order ID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55889579"/>
                  </a:ext>
                </a:extLst>
              </a:tr>
              <a:tr h="28054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Ajio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6.2%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43720630"/>
                  </a:ext>
                </a:extLst>
              </a:tr>
              <a:tr h="28054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Amazon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35.5%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57559827"/>
                  </a:ext>
                </a:extLst>
              </a:tr>
              <a:tr h="28054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 dirty="0">
                          <a:effectLst/>
                        </a:rPr>
                        <a:t>Flipkart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21.6%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68434421"/>
                  </a:ext>
                </a:extLst>
              </a:tr>
              <a:tr h="28054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Meesho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4.5%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60928750"/>
                  </a:ext>
                </a:extLst>
              </a:tr>
              <a:tr h="28054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Myntra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23.4%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48500931"/>
                  </a:ext>
                </a:extLst>
              </a:tr>
              <a:tr h="28054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Nalli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4.8%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5322312"/>
                  </a:ext>
                </a:extLst>
              </a:tr>
              <a:tr h="28054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Others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4.1%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31037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72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9A328-14CC-BC36-43FF-F856B6A45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55365"/>
            <a:ext cx="9404723" cy="1400530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of Vrinda Store Report 2022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2599B7-7E9F-B201-550A-0DAFB58DB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81" y="1189260"/>
            <a:ext cx="11912837" cy="557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177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BE1B4-E947-0148-0958-2A753C18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396" y="255366"/>
            <a:ext cx="8241331" cy="895858"/>
          </a:xfrm>
        </p:spPr>
        <p:txBody>
          <a:bodyPr/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Insights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B5FBF-50DB-B99D-D019-09BD188EF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169" y="1039842"/>
            <a:ext cx="6205308" cy="348610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 are more likely to buy as compared to men (~64%).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Maharashtra, Karnataka and Uttar Pradesh are the top 3 states(~35%).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Adult age group (30-49 yrs) is max contributing(~50%).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Amazon, Flipkart and Myntra channels are max contributing (~80%).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Free Vector | Gradient insights illustration">
            <a:extLst>
              <a:ext uri="{FF2B5EF4-FFF2-40B4-BE49-F238E27FC236}">
                <a16:creationId xmlns:a16="http://schemas.microsoft.com/office/drawing/2014/main" id="{81C2A8F6-165F-CE3A-ED91-2BA20D046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0719" y="1151224"/>
            <a:ext cx="4352885" cy="5216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5844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1AC66-D86E-C7AE-A925-EF73E0B9F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543" y="123797"/>
            <a:ext cx="9404723" cy="1400530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Conclusion to Improve Vrinda store sales: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CEF68-E2AE-8410-1EEB-0462571C5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365" y="1642517"/>
            <a:ext cx="5155705" cy="31680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customers of age group 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30-49 yrs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living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Maharashtra, Karnataka and Uttar Pradesh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showing ads/offers/coupons available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Amazon, Flipkart and Myntra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Conclusion - Free technology icons">
            <a:extLst>
              <a:ext uri="{FF2B5EF4-FFF2-40B4-BE49-F238E27FC236}">
                <a16:creationId xmlns:a16="http://schemas.microsoft.com/office/drawing/2014/main" id="{882A68CB-27C0-C020-DD77-37E4FEEB0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657" y="1351793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087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 Special Thank You - Girlguiding Midlands">
            <a:extLst>
              <a:ext uri="{FF2B5EF4-FFF2-40B4-BE49-F238E27FC236}">
                <a16:creationId xmlns:a16="http://schemas.microsoft.com/office/drawing/2014/main" id="{569F2839-3061-3AD5-3F24-DA1D3C8B6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88" y="284922"/>
            <a:ext cx="9753669" cy="6219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01345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Interview Questions You Should Ask - DEV Community">
            <a:extLst>
              <a:ext uri="{FF2B5EF4-FFF2-40B4-BE49-F238E27FC236}">
                <a16:creationId xmlns:a16="http://schemas.microsoft.com/office/drawing/2014/main" id="{055B7968-5428-E19C-EC41-D5E1EE22A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4357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1189</TotalTime>
  <Words>434</Words>
  <Application>Microsoft Office PowerPoint</Application>
  <PresentationFormat>Widescreen</PresentationFormat>
  <Paragraphs>144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Century Gothic</vt:lpstr>
      <vt:lpstr>Times New Roman</vt:lpstr>
      <vt:lpstr>Wingdings 3</vt:lpstr>
      <vt:lpstr>Ion</vt:lpstr>
      <vt:lpstr>Exploring the Business Operations and Performance of Vrinda Store: An In-depth Analysis</vt:lpstr>
      <vt:lpstr>Objectives:</vt:lpstr>
      <vt:lpstr>Problem Statement:</vt:lpstr>
      <vt:lpstr>Comparation of sales and orders</vt:lpstr>
      <vt:lpstr>PowerPoint Presentation</vt:lpstr>
      <vt:lpstr>PowerPoint Presentation</vt:lpstr>
      <vt:lpstr>PowerPoint Presentation</vt:lpstr>
      <vt:lpstr>Number of orders based on Age &amp; Gender</vt:lpstr>
      <vt:lpstr>Channel Distribution As per sales</vt:lpstr>
      <vt:lpstr>Dashboard of Vrinda Store Report 2022</vt:lpstr>
      <vt:lpstr>Project Insights</vt:lpstr>
      <vt:lpstr>Final Conclusion to Improve Vrinda store sales: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Jaguar LandRover Case Study</dc:title>
  <dc:creator>Sumit Singh Rajpoot</dc:creator>
  <cp:lastModifiedBy>Ajay Vishwakarma</cp:lastModifiedBy>
  <cp:revision>27</cp:revision>
  <dcterms:created xsi:type="dcterms:W3CDTF">2022-10-16T08:43:04Z</dcterms:created>
  <dcterms:modified xsi:type="dcterms:W3CDTF">2023-03-29T08:26:55Z</dcterms:modified>
</cp:coreProperties>
</file>